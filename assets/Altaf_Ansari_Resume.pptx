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57400" cy="914400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7373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88"/>
                </a:solidFill>
                <a:latin typeface="Calibri"/>
              </a:defRPr>
            </a:pPr>
            <a:r>
              <a:t>ALTAF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20624"/>
            <a:ext cx="17373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ANSARI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94944"/>
            <a:ext cx="1737360" cy="1463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644FF"/>
                </a:solidFill>
                <a:latin typeface="Calibri"/>
              </a:defRPr>
            </a:pPr>
            <a:r>
              <a:t>ML &amp; AI Engineer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859536"/>
            <a:ext cx="1737360" cy="76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914400"/>
            <a:ext cx="1737360" cy="1280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FF88"/>
                </a:solidFill>
                <a:latin typeface="Calibri"/>
              </a:defRPr>
            </a:pPr>
            <a:r>
              <a:t>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1042415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99999"/>
                </a:solidFill>
                <a:latin typeface="Calibri"/>
              </a:defRPr>
            </a:pPr>
            <a:r>
              <a:t>altafansaripda@gmail.com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99999"/>
                </a:solidFill>
                <a:latin typeface="Calibri"/>
              </a:defRPr>
            </a:pPr>
            <a:r>
              <a:t>+91 9108778332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99999"/>
                </a:solidFill>
                <a:latin typeface="Calibri"/>
              </a:defRPr>
            </a:pPr>
            <a:r>
              <a:t>linkedin.com/in/altaf-ansari309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99999"/>
                </a:solidFill>
                <a:latin typeface="Calibri"/>
              </a:defRPr>
            </a:pPr>
            <a:r>
              <a:t>github.com/altaf-ansari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536192"/>
            <a:ext cx="1737360" cy="1280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FF88"/>
                </a:solidFill>
                <a:latin typeface="Calibri"/>
              </a:defRPr>
            </a:pPr>
            <a:r>
              <a:t>TECHNICAL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664208"/>
            <a:ext cx="1737360" cy="2103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0"/>
              </a:spcAft>
              <a:defRPr sz="600" b="1">
                <a:solidFill>
                  <a:srgbClr val="6644FF"/>
                </a:solidFill>
                <a:latin typeface="Calibri"/>
              </a:defRPr>
            </a:pPr>
            <a:r>
              <a:t>ML / DL / CV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PyTorch · TensorFlow · Scikit-learn · Transformers · Fine-tuning · LoRA · YOLO · OpenCV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600" b="1">
                <a:solidFill>
                  <a:srgbClr val="6644FF"/>
                </a:solidFill>
                <a:latin typeface="Calibri"/>
              </a:defRPr>
            </a:pPr>
            <a:r>
              <a:t>Generative AI &amp; LLMs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Agents · RAG · LangChain · LangGraph · OpenAI · Azure OpenAI · Bedrock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600" b="1">
                <a:solidFill>
                  <a:srgbClr val="6644FF"/>
                </a:solidFill>
                <a:latin typeface="Calibri"/>
              </a:defRPr>
            </a:pPr>
            <a:r>
              <a:t>Backend &amp; Deployment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Python · FastAPI · Docker · K8s · AWS · Azure · GCP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600" b="1">
                <a:solidFill>
                  <a:srgbClr val="6644FF"/>
                </a:solidFill>
                <a:latin typeface="Calibri"/>
              </a:defRPr>
            </a:pPr>
            <a:r>
              <a:t>Data &amp; Analytics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Pandas · NumPy · Spark · SQL Server · Power BI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600" b="1">
                <a:solidFill>
                  <a:srgbClr val="6644FF"/>
                </a:solidFill>
                <a:latin typeface="Calibri"/>
              </a:defRPr>
            </a:pPr>
            <a:r>
              <a:t>Tools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Claude Code · Copilot · Cursor · n8n · Git · CI/CD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3657600"/>
            <a:ext cx="1737360" cy="1280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FF88"/>
                </a:solidFill>
                <a:latin typeface="Calibri"/>
              </a:defRPr>
            </a:pPr>
            <a:r>
              <a:t>CERTIFICATIONS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" y="3785615"/>
            <a:ext cx="17373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CCCCCC"/>
                </a:solidFill>
                <a:latin typeface="Calibri"/>
              </a:defRPr>
            </a:pPr>
            <a:r>
              <a:t>✓ AWS Certified ML — Specialty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CCCCCC"/>
                </a:solidFill>
                <a:latin typeface="Calibri"/>
              </a:defRPr>
            </a:pPr>
            <a:r>
              <a:t>✓ Azure AI Fundamentals (AI-900)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CCCCCC"/>
                </a:solidFill>
                <a:latin typeface="Calibri"/>
              </a:defRPr>
            </a:pPr>
            <a:r>
              <a:t>✓ Gen AI with LLMs (DeepLearning.AI)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4279392"/>
            <a:ext cx="1737360" cy="1280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FF88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4407408"/>
            <a:ext cx="1737360" cy="1188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CCCCCC"/>
                </a:solidFill>
                <a:latin typeface="Calibri"/>
              </a:defRPr>
            </a:pPr>
            <a:r>
              <a:t>B.E. Mechanical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4526280"/>
            <a:ext cx="1737360" cy="1188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VTU — 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4700016"/>
            <a:ext cx="1737360" cy="1280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FF88"/>
                </a:solidFill>
                <a:latin typeface="Calibri"/>
              </a:defRPr>
            </a:pPr>
            <a:r>
              <a:t>FOCUS AREAS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4828032"/>
            <a:ext cx="173736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▸ ML/DL Systems &amp; Model Development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▸ LLM Fine-tuning &amp; Evaluation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▸ Computer Vision &amp; NLP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▸ Agentic AI &amp; Multi-Agent Orchestration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▸ Cloud-Native ML Pipelines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▸ Intelligent Document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164592"/>
            <a:ext cx="443484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FF88"/>
                </a:solidFill>
                <a:latin typeface="Calibri"/>
              </a:defRPr>
            </a:pPr>
            <a:r>
              <a:t>PROFESSIONAL 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365760"/>
            <a:ext cx="4434840" cy="76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420624"/>
            <a:ext cx="443484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CCCCCC"/>
                </a:solidFill>
                <a:latin typeface="Calibri"/>
              </a:defRPr>
            </a:pPr>
            <a:r>
              <a:t>Machine Learning Engineer with 3+ years of experience building production-grade ML/DL systems — from classical machine learning and computer vision to deep learning, LLM fine-tuning, and agentic AI. Specialized in end-to-end model development, FastAPI backend services, and cloud-native deployment on AWS and Azure. Track record of shipping intelligent products that improve accuracy by 30%+, reduce latency by 40%, and automate operations across enterprise environments.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914400"/>
            <a:ext cx="443484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FF88"/>
                </a:solidFill>
                <a:latin typeface="Calibri"/>
              </a:defRPr>
            </a:pPr>
            <a:r>
              <a:t>WORK EXPERIENCE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1097280"/>
            <a:ext cx="4434840" cy="76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0280" y="1161288"/>
            <a:ext cx="2743200" cy="1463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Machine Learning 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1161288"/>
            <a:ext cx="1645920" cy="1463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99999"/>
                </a:solidFill>
                <a:latin typeface="Calibri"/>
              </a:defRPr>
            </a:pPr>
            <a:r>
              <a:t>Dec 2024 — Present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1307592"/>
            <a:ext cx="2743200" cy="1280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644FF"/>
                </a:solidFill>
                <a:latin typeface="Calibri"/>
              </a:defRPr>
            </a:pPr>
            <a:r>
              <a:t>PharmaForce Infosoft Insights Pvt.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1435608"/>
            <a:ext cx="4434840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30"/>
              </a:spcBef>
              <a:spcAft>
                <a:spcPts val="30"/>
              </a:spcAft>
              <a:buChar char="▸"/>
            </a:pPr>
            <a:r>
              <a:rPr sz="650">
                <a:solidFill>
                  <a:srgbClr val="CCCCCC"/>
                </a:solidFill>
                <a:latin typeface="Calibri"/>
              </a:rPr>
              <a:t>Built and deployed AI-powered backend services using FastAPI with LLM-based RAG pipelines, improving retrieval accuracy by 30% and reducing latency by 40%</a:t>
            </a:r>
          </a:p>
          <a:p>
            <a:pPr>
              <a:spcBef>
                <a:spcPts val="30"/>
              </a:spcBef>
              <a:spcAft>
                <a:spcPts val="30"/>
              </a:spcAft>
              <a:buChar char="▸"/>
            </a:pPr>
            <a:r>
              <a:rPr sz="650">
                <a:solidFill>
                  <a:srgbClr val="CCCCCC"/>
                </a:solidFill>
                <a:latin typeface="Calibri"/>
              </a:rPr>
              <a:t>Fine-tuned LLMs locally and on AWS SageMaker for domain-specific extraction and classification tasks, improving baseline accuracy by 15%+</a:t>
            </a:r>
          </a:p>
          <a:p>
            <a:pPr>
              <a:spcBef>
                <a:spcPts val="30"/>
              </a:spcBef>
              <a:spcAft>
                <a:spcPts val="30"/>
              </a:spcAft>
              <a:buChar char="▸"/>
            </a:pPr>
            <a:r>
              <a:rPr sz="650">
                <a:solidFill>
                  <a:srgbClr val="CCCCCC"/>
                </a:solidFill>
                <a:latin typeface="Calibri"/>
              </a:rPr>
              <a:t>Designed agentic workflows using LangChain and LangGraph for automated data analysis, query generation, and multi-step reasoning</a:t>
            </a:r>
          </a:p>
          <a:p>
            <a:pPr>
              <a:spcBef>
                <a:spcPts val="30"/>
              </a:spcBef>
              <a:spcAft>
                <a:spcPts val="30"/>
              </a:spcAft>
              <a:buChar char="▸"/>
            </a:pPr>
            <a:r>
              <a:rPr sz="650">
                <a:solidFill>
                  <a:srgbClr val="CCCCCC"/>
                </a:solidFill>
                <a:latin typeface="Calibri"/>
              </a:rPr>
              <a:t>Built cloud-native AI invoice extraction pipeline on Azure (Functions, Blob Storage, Azure OpenAI, PyMuPDF) processing 200+ invoices/month</a:t>
            </a:r>
          </a:p>
          <a:p>
            <a:pPr>
              <a:spcBef>
                <a:spcPts val="30"/>
              </a:spcBef>
              <a:spcAft>
                <a:spcPts val="30"/>
              </a:spcAft>
              <a:buChar char="▸"/>
            </a:pPr>
            <a:r>
              <a:rPr sz="650">
                <a:solidFill>
                  <a:srgbClr val="CCCCCC"/>
                </a:solidFill>
                <a:latin typeface="Calibri"/>
              </a:rPr>
              <a:t>Developed KYPB (Know Your Product Better) — AI product intelligence agent with dashboards for issue tracking, resolution metrics, and code quality</a:t>
            </a:r>
          </a:p>
          <a:p>
            <a:pPr>
              <a:spcBef>
                <a:spcPts val="30"/>
              </a:spcBef>
              <a:spcAft>
                <a:spcPts val="30"/>
              </a:spcAft>
              <a:buChar char="▸"/>
            </a:pPr>
            <a:r>
              <a:rPr sz="650">
                <a:solidFill>
                  <a:srgbClr val="CCCCCC"/>
                </a:solidFill>
                <a:latin typeface="Calibri"/>
              </a:rPr>
              <a:t>Developed text-to-SQL APIs and semantic search services, cutting data request turnaround from days to seconds</a:t>
            </a:r>
          </a:p>
          <a:p>
            <a:pPr>
              <a:spcBef>
                <a:spcPts val="30"/>
              </a:spcBef>
              <a:spcAft>
                <a:spcPts val="30"/>
              </a:spcAft>
              <a:buChar char="▸"/>
            </a:pPr>
            <a:r>
              <a:rPr sz="650">
                <a:solidFill>
                  <a:srgbClr val="CCCCCC"/>
                </a:solidFill>
                <a:latin typeface="Calibri"/>
              </a:rPr>
              <a:t>Automated defect reporting via n8n — weekly reports to 50+ stakeholders; implemented model monitoring and drift detection</a:t>
            </a:r>
          </a:p>
          <a:p>
            <a:pPr>
              <a:spcBef>
                <a:spcPts val="30"/>
              </a:spcBef>
              <a:spcAft>
                <a:spcPts val="30"/>
              </a:spcAft>
              <a:buChar char="▸"/>
            </a:pPr>
            <a:r>
              <a:rPr sz="650">
                <a:solidFill>
                  <a:srgbClr val="CCCCCC"/>
                </a:solidFill>
                <a:latin typeface="Calibri"/>
              </a:rPr>
              <a:t>Guided 3+ development teams on efficient adoption of Claude Code, reducing average feature delivery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520440"/>
            <a:ext cx="2743200" cy="1463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Machine Learning Engineer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520440"/>
            <a:ext cx="1645920" cy="1463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99999"/>
                </a:solidFill>
                <a:latin typeface="Calibri"/>
              </a:defRPr>
            </a:pPr>
            <a:r>
              <a:t>May 2021 — May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3666744"/>
            <a:ext cx="2743200" cy="1280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644FF"/>
                </a:solidFill>
                <a:latin typeface="Calibri"/>
              </a:defRPr>
            </a:pPr>
            <a:r>
              <a:t>People Tech Group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3794760"/>
            <a:ext cx="443484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30"/>
              </a:spcBef>
              <a:spcAft>
                <a:spcPts val="30"/>
              </a:spcAft>
              <a:buChar char="▸"/>
            </a:pPr>
            <a:r>
              <a:rPr sz="650">
                <a:solidFill>
                  <a:srgbClr val="CCCCCC"/>
                </a:solidFill>
                <a:latin typeface="Calibri"/>
              </a:rPr>
              <a:t>Developed and deployed YOLOv5/v8-based computer vision service achieving 94% accuracy, reducing manual review time by 70%</a:t>
            </a:r>
          </a:p>
          <a:p>
            <a:pPr>
              <a:spcBef>
                <a:spcPts val="30"/>
              </a:spcBef>
              <a:spcAft>
                <a:spcPts val="30"/>
              </a:spcAft>
              <a:buChar char="▸"/>
            </a:pPr>
            <a:r>
              <a:rPr sz="650">
                <a:solidFill>
                  <a:srgbClr val="CCCCCC"/>
                </a:solidFill>
                <a:latin typeface="Calibri"/>
              </a:rPr>
              <a:t>Built ML-based risk prediction models for insurance using gradient boosting and neural networks, reducing claim costs by 25%</a:t>
            </a:r>
          </a:p>
          <a:p>
            <a:pPr>
              <a:spcBef>
                <a:spcPts val="30"/>
              </a:spcBef>
              <a:spcAft>
                <a:spcPts val="30"/>
              </a:spcAft>
              <a:buChar char="▸"/>
            </a:pPr>
            <a:r>
              <a:rPr sz="650">
                <a:solidFill>
                  <a:srgbClr val="CCCCCC"/>
                </a:solidFill>
                <a:latin typeface="Calibri"/>
              </a:rPr>
              <a:t>Implemented transfer learning pipelines for domain-specific image classification and NLP tasks</a:t>
            </a:r>
          </a:p>
          <a:p>
            <a:pPr>
              <a:spcBef>
                <a:spcPts val="30"/>
              </a:spcBef>
              <a:spcAft>
                <a:spcPts val="30"/>
              </a:spcAft>
              <a:buChar char="▸"/>
            </a:pPr>
            <a:r>
              <a:rPr sz="650">
                <a:solidFill>
                  <a:srgbClr val="CCCCCC"/>
                </a:solidFill>
                <a:latin typeface="Calibri"/>
              </a:rPr>
              <a:t>Built end-to-end training/inference pipelines on AWS (EC2, ECR, S3); deployed containerized ML services with Docker and Kubernetes</a:t>
            </a:r>
          </a:p>
          <a:p>
            <a:pPr>
              <a:spcBef>
                <a:spcPts val="30"/>
              </a:spcBef>
              <a:spcAft>
                <a:spcPts val="30"/>
              </a:spcAft>
              <a:buChar char="▸"/>
            </a:pPr>
            <a:r>
              <a:rPr sz="650">
                <a:solidFill>
                  <a:srgbClr val="CCCCCC"/>
                </a:solidFill>
                <a:latin typeface="Calibri"/>
              </a:rPr>
              <a:t>Engineered features from structured and unstructured data, improving model performance by 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5074920"/>
            <a:ext cx="443484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FF88"/>
                </a:solidFill>
                <a:latin typeface="Calibri"/>
              </a:defRPr>
            </a:pPr>
            <a:r>
              <a:t>KEY PROJECTS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40280" y="5257800"/>
            <a:ext cx="4434840" cy="76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40280" y="5321808"/>
            <a:ext cx="2148840" cy="86868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13432" y="5358384"/>
            <a:ext cx="2002536" cy="1280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alibri"/>
              </a:defRPr>
            </a:pPr>
            <a:r>
              <a:t>KYPB — Know Your Product Better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13432" y="5495544"/>
            <a:ext cx="2002536" cy="10058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644FF"/>
                </a:solidFill>
                <a:latin typeface="Calibri"/>
              </a:defRPr>
            </a:pPr>
            <a:r>
              <a:t>AI Agents · Python · LLMs · Dashboards · Code Quality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13432" y="5614416"/>
            <a:ext cx="2002536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AI product intelligence agent providing instant answers about product architecture, issues, resolution metrics, and code quality dashboards.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6280" y="5321808"/>
            <a:ext cx="2148840" cy="86868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99432" y="5358384"/>
            <a:ext cx="2002536" cy="1280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alibri"/>
              </a:defRPr>
            </a:pPr>
            <a:r>
              <a:t>Kareem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9432" y="5495544"/>
            <a:ext cx="2002536" cy="10058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644FF"/>
                </a:solidFill>
                <a:latin typeface="Calibri"/>
              </a:defRPr>
            </a:pPr>
            <a:r>
              <a:t>LLMs · Agentic AI · RAG · FastAPI · LangChain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9432" y="5614416"/>
            <a:ext cx="2002536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Agentic chatbot automating support and data analysis with RAG, semantic search, and multi-step reasoning.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40280" y="6281928"/>
            <a:ext cx="2148840" cy="86868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13432" y="6318504"/>
            <a:ext cx="2002536" cy="1280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alibri"/>
              </a:defRPr>
            </a:pPr>
            <a:r>
              <a:t>AI Invoice Extraction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13432" y="6455664"/>
            <a:ext cx="2002536" cy="10058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644FF"/>
                </a:solidFill>
                <a:latin typeface="Calibri"/>
              </a:defRPr>
            </a:pPr>
            <a:r>
              <a:t>Azure Functions · Azure OpenAI · PyMuPDF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13432" y="6574536"/>
            <a:ext cx="2002536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Cloud-native pipeline extracting structured data from diverse invoice formats. 200+ invoices/month.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26280" y="6281928"/>
            <a:ext cx="2148840" cy="86868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99432" y="6318504"/>
            <a:ext cx="2002536" cy="1280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alibri"/>
              </a:defRPr>
            </a:pPr>
            <a:r>
              <a:t>Computer Vision Platform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99432" y="6455664"/>
            <a:ext cx="2002536" cy="10058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644FF"/>
                </a:solidFill>
                <a:latin typeface="Calibri"/>
              </a:defRPr>
            </a:pPr>
            <a:r>
              <a:t>YOLOv5/v8 · PyTorch · CV · ML Ops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99432" y="6574536"/>
            <a:ext cx="2002536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94% accuracy detection handling 5K+ daily requests, reducing manual review by 70%.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40280" y="7242048"/>
            <a:ext cx="2148840" cy="86868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13432" y="7278624"/>
            <a:ext cx="2002536" cy="1280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alibri"/>
              </a:defRPr>
            </a:pPr>
            <a:r>
              <a:t>Text-to-SQL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13432" y="7415784"/>
            <a:ext cx="2002536" cy="10058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644FF"/>
                </a:solidFill>
                <a:latin typeface="Calibri"/>
              </a:defRPr>
            </a:pPr>
            <a:r>
              <a:t>NLP · SQL · LLMs · FastAPI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13432" y="7534656"/>
            <a:ext cx="2002536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Natural language to SQL APIs with safety guardrails. Data turnaround from days to seconds.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26280" y="7242048"/>
            <a:ext cx="2148840" cy="86868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99432" y="7278624"/>
            <a:ext cx="2002536" cy="1280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alibri"/>
              </a:defRPr>
            </a:pPr>
            <a:r>
              <a:t>Semantic Search &amp; RAG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99432" y="7415784"/>
            <a:ext cx="2002536" cy="10058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644FF"/>
                </a:solidFill>
                <a:latin typeface="Calibri"/>
              </a:defRPr>
            </a:pPr>
            <a:r>
              <a:t>Embeddings · Vector DB · LLMs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99432" y="7534656"/>
            <a:ext cx="2002536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Hybrid dense + sparse retrieval with LLM synthesis. 30% accuracy gain over keyword search.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40280" y="8202168"/>
            <a:ext cx="2148840" cy="868680"/>
          </a:xfrm>
          <a:prstGeom prst="rect">
            <a:avLst/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13432" y="8238744"/>
            <a:ext cx="2002536" cy="1280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alibri"/>
              </a:defRPr>
            </a:pPr>
            <a:r>
              <a:t>LangGraph Multi-Agent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13432" y="8375904"/>
            <a:ext cx="2002536" cy="10058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644FF"/>
                </a:solidFill>
                <a:latin typeface="Calibri"/>
              </a:defRPr>
            </a:pPr>
            <a:r>
              <a:t>LangGraph · Multi-Agent · Python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13432" y="8494776"/>
            <a:ext cx="2002536" cy="5303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999999"/>
                </a:solidFill>
                <a:latin typeface="Calibri"/>
              </a:defRPr>
            </a:pPr>
            <a:r>
              <a:t>Hierarchical agent orchestration with specialized sub-agents for complex multi-step reasoning.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40280" y="8869680"/>
            <a:ext cx="4434840" cy="1463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999999"/>
                </a:solidFill>
                <a:latin typeface="Calibri"/>
              </a:defRPr>
            </a:pPr>
            <a:r>
              <a:t>altafansaripda@gmail.com · linkedin.com/in/altaf-ansari309 · github.com/altaf-ansari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